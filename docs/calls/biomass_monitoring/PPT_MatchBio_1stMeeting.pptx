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Cormorant Garamond Bold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old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AD1D8-A170-6CF7-803D-66FBC4006030}" v="1" dt="2026-06-23T15:10:5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5353" y="2888178"/>
            <a:ext cx="664473" cy="4510645"/>
            <a:chOff x="0" y="0"/>
            <a:chExt cx="175005" cy="1187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005" cy="1187989"/>
            </a:xfrm>
            <a:custGeom>
              <a:avLst/>
              <a:gdLst/>
              <a:ahLst/>
              <a:cxnLst/>
              <a:rect l="l" t="t" r="r" b="b"/>
              <a:pathLst>
                <a:path w="175005" h="1187989">
                  <a:moveTo>
                    <a:pt x="0" y="0"/>
                  </a:moveTo>
                  <a:lnTo>
                    <a:pt x="175005" y="0"/>
                  </a:lnTo>
                  <a:lnTo>
                    <a:pt x="175005" y="1187989"/>
                  </a:lnTo>
                  <a:lnTo>
                    <a:pt x="0" y="1187989"/>
                  </a:lnTo>
                  <a:close/>
                </a:path>
              </a:pathLst>
            </a:custGeom>
            <a:solidFill>
              <a:srgbClr val="A9B38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5005" cy="1245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5771524" cy="10287000"/>
            <a:chOff x="0" y="0"/>
            <a:chExt cx="7695365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31332" r="31332"/>
            <a:stretch>
              <a:fillRect/>
            </a:stretch>
          </p:blipFill>
          <p:spPr>
            <a:xfrm>
              <a:off x="0" y="0"/>
              <a:ext cx="7695365" cy="13716000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 flipH="1">
            <a:off x="11858625" y="6172200"/>
            <a:ext cx="6429375" cy="4114800"/>
          </a:xfrm>
          <a:custGeom>
            <a:avLst/>
            <a:gdLst/>
            <a:ahLst/>
            <a:cxnLst/>
            <a:rect l="l" t="t" r="r" b="b"/>
            <a:pathLst>
              <a:path w="6429375" h="4114800">
                <a:moveTo>
                  <a:pt x="6429375" y="0"/>
                </a:moveTo>
                <a:lnTo>
                  <a:pt x="0" y="0"/>
                </a:lnTo>
                <a:lnTo>
                  <a:pt x="0" y="4114800"/>
                </a:lnTo>
                <a:lnTo>
                  <a:pt x="6429375" y="4114800"/>
                </a:lnTo>
                <a:lnTo>
                  <a:pt x="64293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4012115" y="320176"/>
            <a:ext cx="3855006" cy="2568001"/>
          </a:xfrm>
          <a:custGeom>
            <a:avLst/>
            <a:gdLst/>
            <a:ahLst/>
            <a:cxnLst/>
            <a:rect l="l" t="t" r="r" b="b"/>
            <a:pathLst>
              <a:path w="3855006" h="2568001">
                <a:moveTo>
                  <a:pt x="0" y="0"/>
                </a:moveTo>
                <a:lnTo>
                  <a:pt x="3855005" y="0"/>
                </a:lnTo>
                <a:lnTo>
                  <a:pt x="3855005" y="2568002"/>
                </a:lnTo>
                <a:lnTo>
                  <a:pt x="0" y="256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273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7800975" y="3126303"/>
            <a:ext cx="7048290" cy="1224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8"/>
              </a:lnSpc>
            </a:pPr>
            <a:r>
              <a:rPr lang="en-US" sz="9600" b="1">
                <a:solidFill>
                  <a:srgbClr val="3E4935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MATCH-BIO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00975" y="4419402"/>
            <a:ext cx="7048290" cy="297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</a:pPr>
            <a:r>
              <a:rPr lang="en-US" sz="4200">
                <a:solidFill>
                  <a:srgbClr val="3E4935"/>
                </a:solidFill>
                <a:latin typeface="Poppins"/>
                <a:ea typeface="Poppins"/>
                <a:cs typeface="Poppins"/>
                <a:sym typeface="Poppins"/>
              </a:rPr>
              <a:t>Modeling, Aggregation and Transport Chain for Harmonised Biomass flows in Europe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667758" cy="10287000"/>
            <a:chOff x="0" y="0"/>
            <a:chExt cx="14927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2743" cy="2709333"/>
            </a:xfrm>
            <a:custGeom>
              <a:avLst/>
              <a:gdLst/>
              <a:ahLst/>
              <a:cxnLst/>
              <a:rect l="l" t="t" r="r" b="b"/>
              <a:pathLst>
                <a:path w="1492743" h="2709333">
                  <a:moveTo>
                    <a:pt x="0" y="0"/>
                  </a:moveTo>
                  <a:lnTo>
                    <a:pt x="1492743" y="0"/>
                  </a:lnTo>
                  <a:lnTo>
                    <a:pt x="14927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9274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317208"/>
            <a:ext cx="5667758" cy="3969792"/>
          </a:xfrm>
          <a:custGeom>
            <a:avLst/>
            <a:gdLst/>
            <a:ahLst/>
            <a:cxnLst/>
            <a:rect l="l" t="t" r="r" b="b"/>
            <a:pathLst>
              <a:path w="5667758" h="3969792">
                <a:moveTo>
                  <a:pt x="0" y="0"/>
                </a:moveTo>
                <a:lnTo>
                  <a:pt x="5667758" y="0"/>
                </a:lnTo>
                <a:lnTo>
                  <a:pt x="5667758" y="3969792"/>
                </a:lnTo>
                <a:lnTo>
                  <a:pt x="0" y="3969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28700" y="847725"/>
            <a:ext cx="4300194" cy="228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Status Quo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351661" y="1028700"/>
            <a:ext cx="5066404" cy="5536402"/>
            <a:chOff x="0" y="0"/>
            <a:chExt cx="6755205" cy="7381869"/>
          </a:xfrm>
        </p:grpSpPr>
        <p:sp>
          <p:nvSpPr>
            <p:cNvPr id="8" name="TextBox 8"/>
            <p:cNvSpPr txBox="1"/>
            <p:nvPr/>
          </p:nvSpPr>
          <p:spPr>
            <a:xfrm>
              <a:off x="0" y="603244"/>
              <a:ext cx="6755205" cy="677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Topic:HORIZON-CL6-2026-01-CIRCBIO-05: Understanding biomass flows in Europe</a:t>
              </a:r>
            </a:p>
            <a:p>
              <a:pPr algn="l">
                <a:lnSpc>
                  <a:spcPts val="4079"/>
                </a:lnSpc>
              </a:pPr>
              <a:endPara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Type of Action: RIA (Research and Innovation Action)</a:t>
              </a:r>
            </a:p>
            <a:p>
              <a:pPr algn="l">
                <a:lnSpc>
                  <a:spcPts val="4079"/>
                </a:lnSpc>
              </a:pPr>
              <a:endPara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Budget: €3,000,000   &amp;  Time: 36 months</a:t>
              </a:r>
            </a:p>
            <a:p>
              <a:pPr algn="l">
                <a:lnSpc>
                  <a:spcPts val="4079"/>
                </a:lnSpc>
              </a:pPr>
              <a:endPara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755205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Information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92896" y="1028700"/>
            <a:ext cx="5066404" cy="1939290"/>
            <a:chOff x="0" y="0"/>
            <a:chExt cx="6755205" cy="258572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07695"/>
              <a:ext cx="6755205" cy="1978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Consortium is being drafted</a:t>
              </a:r>
            </a:p>
            <a:p>
              <a:pPr marL="518160" lvl="1" indent="-259080" algn="l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Concept Note sent out </a:t>
              </a:r>
            </a:p>
            <a:p>
              <a:pPr marL="518160" lvl="1" indent="-259080" algn="l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NDAs sent out for signature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755205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Steps done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805481" y="1028700"/>
            <a:ext cx="0" cy="6492240"/>
          </a:xfrm>
          <a:prstGeom prst="line">
            <a:avLst/>
          </a:prstGeom>
          <a:ln w="38100" cap="flat">
            <a:solidFill>
              <a:srgbClr val="9299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006914"/>
            <a:ext cx="18288000" cy="4326638"/>
            <a:chOff x="0" y="0"/>
            <a:chExt cx="24384000" cy="576885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34170" b="34170"/>
            <a:stretch>
              <a:fillRect/>
            </a:stretch>
          </p:blipFill>
          <p:spPr>
            <a:xfrm>
              <a:off x="0" y="0"/>
              <a:ext cx="24384000" cy="5768851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3831708" y="2566811"/>
            <a:ext cx="1062458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3E4935"/>
                </a:solidFill>
                <a:latin typeface="Poppins"/>
                <a:ea typeface="Poppins"/>
                <a:cs typeface="Poppins"/>
                <a:sym typeface="Poppins"/>
              </a:rPr>
              <a:t>Challenge and Rationale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13920" y="4114054"/>
            <a:ext cx="13460161" cy="5133974"/>
            <a:chOff x="0" y="0"/>
            <a:chExt cx="17946881" cy="6845298"/>
          </a:xfrm>
        </p:grpSpPr>
        <p:sp>
          <p:nvSpPr>
            <p:cNvPr id="6" name="TextBox 6"/>
            <p:cNvSpPr txBox="1"/>
            <p:nvPr/>
          </p:nvSpPr>
          <p:spPr>
            <a:xfrm>
              <a:off x="0" y="904160"/>
              <a:ext cx="17946881" cy="5941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3976" lvl="1" indent="-326988" algn="l">
                <a:lnSpc>
                  <a:spcPts val="5149"/>
                </a:lnSpc>
                <a:buFont typeface="Arial"/>
                <a:buChar char="•"/>
              </a:pP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Europe's transition towards a sustainable, circular, and climate-neutral bioeconomy requires robust, harmonised, and data-driven systems capable of monitoring, modeling and optimizing biomass flow</a:t>
              </a:r>
            </a:p>
            <a:p>
              <a:pPr marL="653976" lvl="1" indent="-326988" algn="l">
                <a:lnSpc>
                  <a:spcPts val="5149"/>
                </a:lnSpc>
                <a:buFont typeface="Arial"/>
                <a:buChar char="•"/>
              </a:pP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Agricultural woody resides represent europes largest unmapped and underutilized circular economy opportunity</a:t>
              </a:r>
            </a:p>
            <a:p>
              <a:pPr algn="l">
                <a:lnSpc>
                  <a:spcPts val="5149"/>
                </a:lnSpc>
              </a:pPr>
              <a:endParaRPr lang="en-US" sz="302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>
                <a:lnSpc>
                  <a:spcPts val="5149"/>
                </a:lnSpc>
              </a:pP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                            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⟶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 Logistical and chemical fragmentation!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471041" cy="669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445579" y="0"/>
            <a:ext cx="8845080" cy="10287000"/>
            <a:chOff x="0" y="0"/>
            <a:chExt cx="1179344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1303" r="21303"/>
            <a:stretch>
              <a:fillRect/>
            </a:stretch>
          </p:blipFill>
          <p:spPr>
            <a:xfrm>
              <a:off x="0" y="0"/>
              <a:ext cx="1179344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555538" y="1541959"/>
            <a:ext cx="9658350" cy="7203083"/>
            <a:chOff x="0" y="0"/>
            <a:chExt cx="2543763" cy="18971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43763" cy="1897108"/>
            </a:xfrm>
            <a:custGeom>
              <a:avLst/>
              <a:gdLst/>
              <a:ahLst/>
              <a:cxnLst/>
              <a:rect l="l" t="t" r="r" b="b"/>
              <a:pathLst>
                <a:path w="2543763" h="1897108">
                  <a:moveTo>
                    <a:pt x="0" y="0"/>
                  </a:moveTo>
                  <a:lnTo>
                    <a:pt x="2543763" y="0"/>
                  </a:lnTo>
                  <a:lnTo>
                    <a:pt x="2543763" y="1897108"/>
                  </a:lnTo>
                  <a:lnTo>
                    <a:pt x="0" y="1897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43763" cy="1954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>
            <p:extLst>
              <p:ext uri="{D42A27DB-BD31-4B8C-83A1-F6EECF244321}">
                <p14:modId xmlns:p14="http://schemas.microsoft.com/office/powerpoint/2010/main" val="1049108133"/>
              </p:ext>
            </p:extLst>
          </p:nvPr>
        </p:nvGraphicFramePr>
        <p:xfrm>
          <a:off x="9358414" y="4168086"/>
          <a:ext cx="75438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42400" imgH="4648200" progId="Excel.Sheet.12">
                  <p:embed/>
                </p:oleObj>
              </mc:Choice>
              <mc:Fallback>
                <p:oleObj name="Worksheet" r:id="rId3" imgW="9042400" imgH="4648200" progId="Excel.Sheet.12">
                  <p:embed/>
                  <p:pic>
                    <p:nvPicPr>
                      <p:cNvPr id="7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58414" y="4168086"/>
                        <a:ext cx="754380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2044832" y="1724660"/>
            <a:ext cx="7307392" cy="228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3E4935"/>
                </a:solidFill>
                <a:latin typeface="Poppins"/>
                <a:ea typeface="Poppins"/>
                <a:cs typeface="Poppins"/>
                <a:sym typeface="Poppins"/>
              </a:rPr>
              <a:t>Objectives and Methodology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4832" y="4268291"/>
            <a:ext cx="6633683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MATCH-BIO aims to develop and demonstrate a harmonized European framework for sustainable biomass management by combining satellite-based monitoring, advanced digital modeling, and territorial governance.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13397" y="1624330"/>
            <a:ext cx="7307392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Optimized 'Lean Multi-Actor Framework' across a coordinated network of 10 Pilot Case Studies strategically distributed across 5 distinct European macro-regions: Spain (2), Italy (2), France (2), Portugal (2), and the Slovenia-Serbia transitioning corridor (2).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006914"/>
            <a:ext cx="18288000" cy="4326638"/>
            <a:chOff x="0" y="0"/>
            <a:chExt cx="24384000" cy="576885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34170" b="34170"/>
            <a:stretch>
              <a:fillRect/>
            </a:stretch>
          </p:blipFill>
          <p:spPr>
            <a:xfrm>
              <a:off x="0" y="0"/>
              <a:ext cx="24384000" cy="5768851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915854" y="2716524"/>
            <a:ext cx="14456292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3E4935"/>
                </a:solidFill>
                <a:latin typeface="Poppins"/>
                <a:ea typeface="Poppins"/>
                <a:cs typeface="Poppins"/>
                <a:sym typeface="Poppins"/>
              </a:rPr>
              <a:t>Expected Impact &amp; EU Dimension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14350" y="3868414"/>
            <a:ext cx="17259300" cy="6433822"/>
            <a:chOff x="0" y="0"/>
            <a:chExt cx="23012400" cy="8578430"/>
          </a:xfrm>
        </p:grpSpPr>
        <p:sp>
          <p:nvSpPr>
            <p:cNvPr id="6" name="TextBox 6"/>
            <p:cNvSpPr txBox="1"/>
            <p:nvPr/>
          </p:nvSpPr>
          <p:spPr>
            <a:xfrm>
              <a:off x="0" y="910091"/>
              <a:ext cx="23012400" cy="7668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49"/>
                </a:lnSpc>
              </a:pP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Delivery of an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open-access European Toolbox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, including interoperable and FAIR datasets,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harmonised modelling methodologies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, and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policy dashboards 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that feed directly into the EU Bioeconomy Observatory.</a:t>
              </a:r>
            </a:p>
            <a:p>
              <a:pPr algn="ctr">
                <a:lnSpc>
                  <a:spcPts val="5149"/>
                </a:lnSpc>
              </a:pPr>
              <a:endParaRPr lang="en-US" sz="302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ts val="5149"/>
                </a:lnSpc>
              </a:pP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Lean,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data-driven digital architecture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 can be effortlessly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transferred to other underutilized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 European streams—such as forestry residues in Northern Europe or landscape maintenance biomass—maximizing the </a:t>
              </a:r>
              <a:r>
                <a:rPr lang="en-US" sz="3029" b="1">
                  <a:solidFill>
                    <a:srgbClr val="3E493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long-term systemic impact and commercial return</a:t>
              </a:r>
              <a:r>
                <a:rPr lang="en-US" sz="3029">
                  <a:solidFill>
                    <a:srgbClr val="3E4935"/>
                  </a:solidFill>
                  <a:latin typeface="Roboto"/>
                  <a:ea typeface="Roboto"/>
                  <a:cs typeface="Roboto"/>
                  <a:sym typeface="Roboto"/>
                </a:rPr>
                <a:t> on the Union's investment.</a:t>
              </a:r>
            </a:p>
            <a:p>
              <a:pPr algn="ctr">
                <a:lnSpc>
                  <a:spcPts val="5149"/>
                </a:lnSpc>
              </a:pPr>
              <a:endParaRPr lang="en-US" sz="302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lnSpc>
                  <a:spcPts val="5149"/>
                </a:lnSpc>
              </a:pPr>
              <a:endParaRPr lang="en-US" sz="302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884207" cy="675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4283" y="0"/>
            <a:ext cx="5800408" cy="10287000"/>
            <a:chOff x="0" y="0"/>
            <a:chExt cx="152767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7679" cy="2709333"/>
            </a:xfrm>
            <a:custGeom>
              <a:avLst/>
              <a:gdLst/>
              <a:ahLst/>
              <a:cxnLst/>
              <a:rect l="l" t="t" r="r" b="b"/>
              <a:pathLst>
                <a:path w="1527679" h="2709333">
                  <a:moveTo>
                    <a:pt x="0" y="0"/>
                  </a:moveTo>
                  <a:lnTo>
                    <a:pt x="1527679" y="0"/>
                  </a:lnTo>
                  <a:lnTo>
                    <a:pt x="152767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27679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623865"/>
            <a:ext cx="7350744" cy="5663135"/>
          </a:xfrm>
          <a:custGeom>
            <a:avLst/>
            <a:gdLst/>
            <a:ahLst/>
            <a:cxnLst/>
            <a:rect l="l" t="t" r="r" b="b"/>
            <a:pathLst>
              <a:path w="7350744" h="5663135">
                <a:moveTo>
                  <a:pt x="0" y="0"/>
                </a:moveTo>
                <a:lnTo>
                  <a:pt x="7350744" y="0"/>
                </a:lnTo>
                <a:lnTo>
                  <a:pt x="7350744" y="5663135"/>
                </a:lnTo>
                <a:lnTo>
                  <a:pt x="0" y="5663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30039" y="574675"/>
            <a:ext cx="4855613" cy="228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Innovations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13322" y="744538"/>
            <a:ext cx="10386358" cy="146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SOTA: biomass inventories are static and based on obsolete data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Advancement: digital predictive chemometrics model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TRL: 3 to 6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13322" y="32703"/>
            <a:ext cx="9388271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KI1: E-Chemometric &amp; Predictive Feedstock Characterisation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3322" y="3196908"/>
            <a:ext cx="11609015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SOTA: remote sensing fails when applied to perennial crops due to extreme parcel fragmentation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Advancement: pioneering multi-source data fusion model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TRL: 4 to 6/7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3322" y="2485073"/>
            <a:ext cx="10659027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KI2: Multi-Sensor Copernicus Fusion for Hyper-Fragmented Perennials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13322" y="6163627"/>
            <a:ext cx="11149395" cy="146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SOTA: platforms ignore environmental and economic potential of materials 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Advancement: intelligent Decision Support System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TRL: 3 to 6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3322" y="5451792"/>
            <a:ext cx="7292287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KI3: Dynamic Cascading Matchmaking Engine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13322" y="8615997"/>
            <a:ext cx="11609015" cy="146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SOTA: lack of harmonised, transparent and automated methodologies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Advancement: digital twin architecture as a verifiable environmental ledger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TRL: 4 to 6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3322" y="7904162"/>
            <a:ext cx="799660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KI4: Digital Carbon Farming Verification Framework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13816" y="156528"/>
            <a:ext cx="406794" cy="2102485"/>
            <a:chOff x="0" y="0"/>
            <a:chExt cx="107139" cy="5537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139" cy="553741"/>
            </a:xfrm>
            <a:custGeom>
              <a:avLst/>
              <a:gdLst/>
              <a:ahLst/>
              <a:cxnLst/>
              <a:rect l="l" t="t" r="r" b="b"/>
              <a:pathLst>
                <a:path w="107139" h="553741">
                  <a:moveTo>
                    <a:pt x="0" y="0"/>
                  </a:moveTo>
                  <a:lnTo>
                    <a:pt x="107139" y="0"/>
                  </a:lnTo>
                  <a:lnTo>
                    <a:pt x="107139" y="553741"/>
                  </a:lnTo>
                  <a:lnTo>
                    <a:pt x="0" y="553741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7139" cy="610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13816" y="2608898"/>
            <a:ext cx="406794" cy="2616835"/>
            <a:chOff x="0" y="0"/>
            <a:chExt cx="107139" cy="6892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139" cy="689208"/>
            </a:xfrm>
            <a:custGeom>
              <a:avLst/>
              <a:gdLst/>
              <a:ahLst/>
              <a:cxnLst/>
              <a:rect l="l" t="t" r="r" b="b"/>
              <a:pathLst>
                <a:path w="107139" h="689208">
                  <a:moveTo>
                    <a:pt x="0" y="0"/>
                  </a:moveTo>
                  <a:lnTo>
                    <a:pt x="107139" y="0"/>
                  </a:lnTo>
                  <a:lnTo>
                    <a:pt x="107139" y="689208"/>
                  </a:lnTo>
                  <a:lnTo>
                    <a:pt x="0" y="689208"/>
                  </a:lnTo>
                  <a:close/>
                </a:path>
              </a:pathLst>
            </a:custGeom>
            <a:solidFill>
              <a:srgbClr val="A44D2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07139" cy="746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13816" y="5575617"/>
            <a:ext cx="406794" cy="2010023"/>
            <a:chOff x="0" y="0"/>
            <a:chExt cx="107139" cy="5293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139" cy="529389"/>
            </a:xfrm>
            <a:custGeom>
              <a:avLst/>
              <a:gdLst/>
              <a:ahLst/>
              <a:cxnLst/>
              <a:rect l="l" t="t" r="r" b="b"/>
              <a:pathLst>
                <a:path w="107139" h="529389">
                  <a:moveTo>
                    <a:pt x="0" y="0"/>
                  </a:moveTo>
                  <a:lnTo>
                    <a:pt x="107139" y="0"/>
                  </a:lnTo>
                  <a:lnTo>
                    <a:pt x="107139" y="529389"/>
                  </a:lnTo>
                  <a:lnTo>
                    <a:pt x="0" y="529389"/>
                  </a:lnTo>
                  <a:close/>
                </a:path>
              </a:pathLst>
            </a:custGeom>
            <a:solidFill>
              <a:srgbClr val="B9947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07139" cy="586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813816" y="8027987"/>
            <a:ext cx="406794" cy="2051685"/>
            <a:chOff x="0" y="0"/>
            <a:chExt cx="107139" cy="5403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139" cy="540361"/>
            </a:xfrm>
            <a:custGeom>
              <a:avLst/>
              <a:gdLst/>
              <a:ahLst/>
              <a:cxnLst/>
              <a:rect l="l" t="t" r="r" b="b"/>
              <a:pathLst>
                <a:path w="107139" h="540361">
                  <a:moveTo>
                    <a:pt x="0" y="0"/>
                  </a:moveTo>
                  <a:lnTo>
                    <a:pt x="107139" y="0"/>
                  </a:lnTo>
                  <a:lnTo>
                    <a:pt x="107139" y="540361"/>
                  </a:lnTo>
                  <a:lnTo>
                    <a:pt x="0" y="540361"/>
                  </a:lnTo>
                  <a:close/>
                </a:path>
              </a:pathLst>
            </a:custGeom>
            <a:solidFill>
              <a:srgbClr val="ECDCD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07139" cy="597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93525" y="-8463962"/>
            <a:ext cx="22313162" cy="10287000"/>
            <a:chOff x="0" y="0"/>
            <a:chExt cx="587671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76718" cy="2709333"/>
            </a:xfrm>
            <a:custGeom>
              <a:avLst/>
              <a:gdLst/>
              <a:ahLst/>
              <a:cxnLst/>
              <a:rect l="l" t="t" r="r" b="b"/>
              <a:pathLst>
                <a:path w="5876718" h="2709333">
                  <a:moveTo>
                    <a:pt x="0" y="0"/>
                  </a:moveTo>
                  <a:lnTo>
                    <a:pt x="5876718" y="0"/>
                  </a:lnTo>
                  <a:lnTo>
                    <a:pt x="58767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87671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634550" y="-3488793"/>
            <a:ext cx="7350744" cy="5663135"/>
          </a:xfrm>
          <a:custGeom>
            <a:avLst/>
            <a:gdLst/>
            <a:ahLst/>
            <a:cxnLst/>
            <a:rect l="l" t="t" r="r" b="b"/>
            <a:pathLst>
              <a:path w="7350744" h="5663135">
                <a:moveTo>
                  <a:pt x="0" y="0"/>
                </a:moveTo>
                <a:lnTo>
                  <a:pt x="7350743" y="0"/>
                </a:lnTo>
                <a:lnTo>
                  <a:pt x="7350743" y="5663136"/>
                </a:lnTo>
                <a:lnTo>
                  <a:pt x="0" y="5663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6716193" y="341088"/>
            <a:ext cx="4855613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831" y="2050518"/>
            <a:ext cx="16660469" cy="13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WP1&amp;WP2: Project Management and Coordination</a:t>
            </a:r>
          </a:p>
          <a:p>
            <a:pPr marL="0" lvl="0" indent="0" algn="l">
              <a:lnSpc>
                <a:spcPts val="3246"/>
              </a:lnSpc>
              <a:spcBef>
                <a:spcPct val="0"/>
              </a:spcBef>
            </a:pPr>
            <a:r>
              <a:rPr lang="en-US" sz="190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To ensure timely, budget-compliant project execution; to manage legal, financial, and administrative risks; and to guarantee strict compliance with EU ethics, cross-border data flows, and FAIR data mandates.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8831" y="3422586"/>
            <a:ext cx="16777556" cy="13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WP3: Territorial Baseline, Data Harmonisation and Case Study </a:t>
            </a:r>
          </a:p>
          <a:p>
            <a:pPr marL="0" lvl="0" indent="0" algn="l">
              <a:lnSpc>
                <a:spcPts val="3246"/>
              </a:lnSpc>
              <a:spcBef>
                <a:spcPct val="0"/>
              </a:spcBef>
            </a:pPr>
            <a:r>
              <a:rPr lang="en-US" sz="190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To standardize historical, bioclimatic, and cartographic data across the 5 participating nations and to formalize the digital infrastructure of the 10 multi-actor Regional Pilot Case Studies.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831" y="4794654"/>
            <a:ext cx="16660469" cy="132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WP4 &amp; WP5: Predictive AI, Chemometrics and Matchmaking Engine Development</a:t>
            </a:r>
          </a:p>
          <a:p>
            <a:pPr marL="0" lvl="0" indent="0" algn="l">
              <a:lnSpc>
                <a:spcPts val="3246"/>
              </a:lnSpc>
              <a:spcBef>
                <a:spcPct val="0"/>
              </a:spcBef>
            </a:pPr>
            <a:r>
              <a:rPr lang="en-US" sz="1909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To design, code, and train the core MATCH-BIO cloud software platform, materializing Key Innovations 1, 2, and 3 across diverse topographies and climate zones.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831" y="6166722"/>
            <a:ext cx="16660469" cy="132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WP6: Multi-Territorial Validation and Pilot Case Studies Deployment</a:t>
            </a:r>
          </a:p>
          <a:p>
            <a:pPr marL="0" lvl="0" indent="0" algn="l">
              <a:lnSpc>
                <a:spcPts val="3247"/>
              </a:lnSpc>
              <a:spcBef>
                <a:spcPct val="0"/>
              </a:spcBef>
            </a:pPr>
            <a:r>
              <a:rPr lang="en-US" sz="191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To deploy and field-test the MATCH-BIO cloud framework under real-world, multi-jurisdictional operating conditions across Spain, Italy, France, Portugal, and the Slovenia-Serbia transitioning corridor.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8831" y="7538776"/>
            <a:ext cx="16660469" cy="132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WP7: Sustainability, Carbon Certification Framework and Exploitation Models</a:t>
            </a:r>
          </a:p>
          <a:p>
            <a:pPr marL="0" lvl="0" indent="0" algn="l">
              <a:lnSpc>
                <a:spcPts val="3247"/>
              </a:lnSpc>
              <a:spcBef>
                <a:spcPct val="0"/>
              </a:spcBef>
            </a:pPr>
            <a:r>
              <a:rPr lang="en-US" sz="1910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  <a:r>
              <a:rPr lang="en-US" sz="191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o quantify the environmental and socio-economic impacts of the platform, validate the digital carbon MRV infrastructure (KI4), and build market-ready business models.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8831" y="8910831"/>
            <a:ext cx="16640328" cy="91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409" b="1">
                <a:solidFill>
                  <a:srgbClr val="3E4935"/>
                </a:solidFill>
                <a:latin typeface="Roboto Bold"/>
                <a:ea typeface="Roboto Bold"/>
                <a:cs typeface="Roboto Bold"/>
                <a:sym typeface="Roboto Bold"/>
              </a:rPr>
              <a:t>WP8&amp; WP9: Dissemination, Communication and Policy Uptake</a:t>
            </a:r>
          </a:p>
          <a:p>
            <a:pPr marL="0" lvl="0" indent="0" algn="l">
              <a:lnSpc>
                <a:spcPts val="3247"/>
              </a:lnSpc>
              <a:spcBef>
                <a:spcPct val="0"/>
              </a:spcBef>
            </a:pPr>
            <a:r>
              <a:rPr lang="en-US" sz="191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To maximize project visibility, feed harmonized datasets into the EU Bioeconomy Observatory, and facilitate replication across broader European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612573"/>
            <a:ext cx="4184483" cy="5674427"/>
            <a:chOff x="0" y="0"/>
            <a:chExt cx="648286" cy="8791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8286" cy="879117"/>
            </a:xfrm>
            <a:custGeom>
              <a:avLst/>
              <a:gdLst/>
              <a:ahLst/>
              <a:cxnLst/>
              <a:rect l="l" t="t" r="r" b="b"/>
              <a:pathLst>
                <a:path w="648286" h="879117">
                  <a:moveTo>
                    <a:pt x="0" y="0"/>
                  </a:moveTo>
                  <a:lnTo>
                    <a:pt x="648286" y="0"/>
                  </a:lnTo>
                  <a:lnTo>
                    <a:pt x="648286" y="879117"/>
                  </a:lnTo>
                  <a:lnTo>
                    <a:pt x="0" y="879117"/>
                  </a:lnTo>
                  <a:close/>
                </a:path>
              </a:pathLst>
            </a:custGeom>
            <a:blipFill>
              <a:blip r:embed="rId2"/>
              <a:stretch>
                <a:fillRect l="-51768" r="-5176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4184483" cy="4349227"/>
            <a:chOff x="0" y="0"/>
            <a:chExt cx="1102086" cy="1145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2086" cy="1145475"/>
            </a:xfrm>
            <a:custGeom>
              <a:avLst/>
              <a:gdLst/>
              <a:ahLst/>
              <a:cxnLst/>
              <a:rect l="l" t="t" r="r" b="b"/>
              <a:pathLst>
                <a:path w="1102086" h="1145475">
                  <a:moveTo>
                    <a:pt x="0" y="0"/>
                  </a:moveTo>
                  <a:lnTo>
                    <a:pt x="1102086" y="0"/>
                  </a:lnTo>
                  <a:lnTo>
                    <a:pt x="1102086" y="1145475"/>
                  </a:lnTo>
                  <a:lnTo>
                    <a:pt x="0" y="1145475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02086" cy="120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0" y="0"/>
            <a:ext cx="4184483" cy="3326664"/>
          </a:xfrm>
          <a:custGeom>
            <a:avLst/>
            <a:gdLst/>
            <a:ahLst/>
            <a:cxnLst/>
            <a:rect l="l" t="t" r="r" b="b"/>
            <a:pathLst>
              <a:path w="4184483" h="3326664">
                <a:moveTo>
                  <a:pt x="0" y="3326664"/>
                </a:moveTo>
                <a:lnTo>
                  <a:pt x="4184483" y="3326664"/>
                </a:lnTo>
                <a:lnTo>
                  <a:pt x="4184483" y="0"/>
                </a:lnTo>
                <a:lnTo>
                  <a:pt x="0" y="0"/>
                </a:lnTo>
                <a:lnTo>
                  <a:pt x="0" y="33266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4821423" y="665162"/>
            <a:ext cx="7622106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79"/>
              </a:lnSpc>
            </a:pPr>
            <a:r>
              <a:rPr lang="en-US" sz="6399">
                <a:solidFill>
                  <a:srgbClr val="3E4935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1423" y="2239169"/>
            <a:ext cx="7622106" cy="99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Living document for WP description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dirty="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Scheduling the </a:t>
            </a:r>
            <a:r>
              <a:rPr lang="en-US" sz="2400">
                <a:solidFill>
                  <a:srgbClr val="3E4935"/>
                </a:solidFill>
                <a:latin typeface="Roboto"/>
                <a:ea typeface="Roboto"/>
                <a:cs typeface="Roboto"/>
                <a:sym typeface="Roboto"/>
              </a:rPr>
              <a:t>next meeting</a:t>
            </a:r>
            <a:endParaRPr lang="en-US" sz="2400" dirty="0">
              <a:solidFill>
                <a:srgbClr val="3E493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03060" y="72719"/>
            <a:ext cx="6684940" cy="10154287"/>
            <a:chOff x="0" y="0"/>
            <a:chExt cx="1760643" cy="2674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0643" cy="2674380"/>
            </a:xfrm>
            <a:custGeom>
              <a:avLst/>
              <a:gdLst/>
              <a:ahLst/>
              <a:cxnLst/>
              <a:rect l="l" t="t" r="r" b="b"/>
              <a:pathLst>
                <a:path w="1760643" h="2674380">
                  <a:moveTo>
                    <a:pt x="0" y="0"/>
                  </a:moveTo>
                  <a:lnTo>
                    <a:pt x="1760643" y="0"/>
                  </a:lnTo>
                  <a:lnTo>
                    <a:pt x="1760643" y="2674380"/>
                  </a:lnTo>
                  <a:lnTo>
                    <a:pt x="0" y="2674380"/>
                  </a:lnTo>
                  <a:close/>
                </a:path>
              </a:pathLst>
            </a:custGeom>
            <a:solidFill>
              <a:srgbClr val="5F6F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60643" cy="2731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1603060" y="5143500"/>
            <a:ext cx="6684940" cy="5150189"/>
          </a:xfrm>
          <a:custGeom>
            <a:avLst/>
            <a:gdLst/>
            <a:ahLst/>
            <a:cxnLst/>
            <a:rect l="l" t="t" r="r" b="b"/>
            <a:pathLst>
              <a:path w="6684940" h="5150189">
                <a:moveTo>
                  <a:pt x="6684940" y="0"/>
                </a:moveTo>
                <a:lnTo>
                  <a:pt x="0" y="0"/>
                </a:lnTo>
                <a:lnTo>
                  <a:pt x="0" y="5150189"/>
                </a:lnTo>
                <a:lnTo>
                  <a:pt x="6684940" y="5150189"/>
                </a:lnTo>
                <a:lnTo>
                  <a:pt x="66849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2219331" y="3859085"/>
            <a:ext cx="8838057" cy="2568831"/>
            <a:chOff x="0" y="0"/>
            <a:chExt cx="11784076" cy="3425108"/>
          </a:xfrm>
        </p:grpSpPr>
        <p:sp>
          <p:nvSpPr>
            <p:cNvPr id="7" name="TextBox 7"/>
            <p:cNvSpPr txBox="1"/>
            <p:nvPr/>
          </p:nvSpPr>
          <p:spPr>
            <a:xfrm>
              <a:off x="0" y="38100"/>
              <a:ext cx="11784076" cy="1989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500"/>
                </a:lnSpc>
              </a:pPr>
              <a:r>
                <a:rPr lang="en-US" sz="10000" b="1">
                  <a:solidFill>
                    <a:srgbClr val="3E4935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THANK YOU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270466"/>
              <a:ext cx="11784076" cy="115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00"/>
                </a:lnSpc>
              </a:pPr>
              <a:r>
                <a:rPr lang="en-US" sz="5000">
                  <a:solidFill>
                    <a:srgbClr val="3E4935"/>
                  </a:solidFill>
                  <a:latin typeface="Poppins"/>
                  <a:ea typeface="Poppins"/>
                  <a:cs typeface="Poppins"/>
                  <a:sym typeface="Poppins"/>
                </a:rPr>
                <a:t>Open questions?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932" y="3859085"/>
            <a:ext cx="664473" cy="2568831"/>
            <a:chOff x="0" y="0"/>
            <a:chExt cx="175005" cy="6765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005" cy="676565"/>
            </a:xfrm>
            <a:custGeom>
              <a:avLst/>
              <a:gdLst/>
              <a:ahLst/>
              <a:cxnLst/>
              <a:rect l="l" t="t" r="r" b="b"/>
              <a:pathLst>
                <a:path w="175005" h="676565">
                  <a:moveTo>
                    <a:pt x="0" y="0"/>
                  </a:moveTo>
                  <a:lnTo>
                    <a:pt x="175005" y="0"/>
                  </a:lnTo>
                  <a:lnTo>
                    <a:pt x="175005" y="676565"/>
                  </a:lnTo>
                  <a:lnTo>
                    <a:pt x="0" y="676565"/>
                  </a:lnTo>
                  <a:close/>
                </a:path>
              </a:pathLst>
            </a:custGeom>
            <a:solidFill>
              <a:srgbClr val="A9B38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75005" cy="7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1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09869154B1D54CBC5996EA16E92BFE" ma:contentTypeVersion="12" ma:contentTypeDescription="Ein neues Dokument erstellen." ma:contentTypeScope="" ma:versionID="154043daaf645dcb8c86ab731d14ea47">
  <xsd:schema xmlns:xsd="http://www.w3.org/2001/XMLSchema" xmlns:xs="http://www.w3.org/2001/XMLSchema" xmlns:p="http://schemas.microsoft.com/office/2006/metadata/properties" xmlns:ns2="a35b6d25-9d03-4954-81d2-9bad561a8131" xmlns:ns3="047648b6-0b22-4bf3-9c4f-6f8e7c8ea15b" targetNamespace="http://schemas.microsoft.com/office/2006/metadata/properties" ma:root="true" ma:fieldsID="eab45868e89f850d7ec562c03ec03809" ns2:_="" ns3:_="">
    <xsd:import namespace="a35b6d25-9d03-4954-81d2-9bad561a8131"/>
    <xsd:import namespace="047648b6-0b22-4bf3-9c4f-6f8e7c8ea1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b6d25-9d03-4954-81d2-9bad561a8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1902dec8-a9aa-4cb7-a2d5-0c0a001087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648b6-0b22-4bf3-9c4f-6f8e7c8ea15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d7df96f-afc4-46b5-a52d-f6593bf243e8}" ma:internalName="TaxCatchAll" ma:showField="CatchAllData" ma:web="047648b6-0b22-4bf3-9c4f-6f8e7c8ea1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5b6d25-9d03-4954-81d2-9bad561a8131">
      <Terms xmlns="http://schemas.microsoft.com/office/infopath/2007/PartnerControls"/>
    </lcf76f155ced4ddcb4097134ff3c332f>
    <TaxCatchAll xmlns="047648b6-0b22-4bf3-9c4f-6f8e7c8ea15b" xsi:nil="true"/>
  </documentManagement>
</p:properties>
</file>

<file path=customXml/itemProps1.xml><?xml version="1.0" encoding="utf-8"?>
<ds:datastoreItem xmlns:ds="http://schemas.openxmlformats.org/officeDocument/2006/customXml" ds:itemID="{DD4AEA01-1D09-437A-8EA4-57A11F98F8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7D5986-D363-42C8-9FBB-D6806346C0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5b6d25-9d03-4954-81d2-9bad561a8131"/>
    <ds:schemaRef ds:uri="047648b6-0b22-4bf3-9c4f-6f8e7c8ea1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02AF6B-4CE6-4998-AB51-05037512BAE7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47648b6-0b22-4bf3-9c4f-6f8e7c8ea15b"/>
    <ds:schemaRef ds:uri="http://schemas.microsoft.com/office/2006/metadata/properties"/>
    <ds:schemaRef ds:uri="http://schemas.microsoft.com/office/2006/documentManagement/types"/>
    <ds:schemaRef ds:uri="http://purl.org/dc/elements/1.1/"/>
    <ds:schemaRef ds:uri="a35b6d25-9d03-4954-81d2-9bad561a813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Custom</PresentationFormat>
  <Paragraphs>60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Simple Business Operation Management Presentation</dc:title>
  <cp:lastModifiedBy>Caterina Baars</cp:lastModifiedBy>
  <cp:revision>5</cp:revision>
  <dcterms:created xsi:type="dcterms:W3CDTF">2006-08-16T00:00:00Z</dcterms:created>
  <dcterms:modified xsi:type="dcterms:W3CDTF">2026-06-25T08:55:29Z</dcterms:modified>
  <dc:identifier>DAHM6s-l0Tk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0x0101002B09869154B1D54CBC5996EA16E92BFE</vt:lpwstr>
  </property>
  <property fmtid="{D5CDD505-2E9C-101B-9397-08002B2CF9AE}" pid="3" name="MediaServiceImageTags">
    <vt:lpwstr/>
  </property>
</Properties>
</file>